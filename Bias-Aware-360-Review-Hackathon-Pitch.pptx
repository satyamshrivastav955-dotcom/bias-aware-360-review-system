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CBC7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D69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BIAS-AWARE 360 REVIEW DESK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20" kern="0" dirty="0">
                <a:solidFill>
                  <a:srgbClr val="6D69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 HACK · AGENTIC AI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1908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F9B27D"/>
                </a:solidFill>
              </a:rPr>
              <a:t>AGENTIC AI · PS-2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7512" y="109728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Bias-Aware 360°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Review Desk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DD2D8"/>
                </a:solidFill>
              </a:rPr>
              <a:t>Evidence-cited performance reviews with an independent bias audit and an enforced human approval gate.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4069080"/>
            <a:ext cx="1536192" cy="320040"/>
          </a:xfrm>
          <a:prstGeom prst="roundRect">
            <a:avLst>
              <a:gd name="adj" fmla="val 17143"/>
            </a:avLst>
          </a:prstGeom>
          <a:solidFill>
            <a:srgbClr val="293039"/>
          </a:solidFill>
          <a:ln w="8890">
            <a:solidFill>
              <a:srgbClr val="CBC7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41422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NEXT.JS 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59152" y="4069080"/>
            <a:ext cx="1536192" cy="320040"/>
          </a:xfrm>
          <a:prstGeom prst="roundRect">
            <a:avLst>
              <a:gd name="adj" fmla="val 17143"/>
            </a:avLst>
          </a:prstGeom>
          <a:solidFill>
            <a:srgbClr val="293039"/>
          </a:solidFill>
          <a:ln w="8890">
            <a:solidFill>
              <a:srgbClr val="CBC7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41422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n8n + GEMINI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05072" y="4069080"/>
            <a:ext cx="1536192" cy="320040"/>
          </a:xfrm>
          <a:prstGeom prst="roundRect">
            <a:avLst>
              <a:gd name="adj" fmla="val 17143"/>
            </a:avLst>
          </a:prstGeom>
          <a:solidFill>
            <a:srgbClr val="293039"/>
          </a:solidFill>
          <a:ln w="8890">
            <a:solidFill>
              <a:srgbClr val="CBC7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78224" y="41422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SUPABASE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3232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 Claude's Plan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5285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A"/>
                </a:solidFill>
              </a:rPr>
              <a:t>INNOVA HACK Chapter-1</a:t>
            </a:r>
            <a:endParaRPr lang="en-US" sz="1000" dirty="0"/>
          </a:p>
        </p:txBody>
      </p:sp>
      <p:pic>
        <p:nvPicPr>
          <p:cNvPr id="14" name="Image 0" descr="c:\Users\sidde\OneDrive\Desktop\FSD\Hackthonss\bias-aware-360-review-system\shots\pg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667512"/>
            <a:ext cx="5148072" cy="5257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46520" y="667512"/>
            <a:ext cx="5148072" cy="5257800"/>
          </a:xfrm>
          <a:prstGeom prst="roundRect">
            <a:avLst>
              <a:gd name="adj" fmla="val 1776"/>
            </a:avLst>
          </a:prstGeom>
          <a:solidFill>
            <a:srgbClr val="FFFFFF">
              <a:alpha val="0"/>
            </a:srgbClr>
          </a:solidFill>
          <a:ln w="12700">
            <a:solidFill>
              <a:srgbClr val="515B6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7782B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</a:rPr>
              <a:t>A performance review can amplify weak evidence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645D"/>
                </a:solidFill>
              </a:rPr>
              <a:t>Managers must synthesize scattered feedback under time pressure—exactly where unsupported narratives can become official records.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64008" cy="3246120"/>
          </a:xfrm>
          <a:prstGeom prst="rect">
            <a:avLst/>
          </a:prstGeom>
          <a:solidFill>
            <a:srgbClr val="E7782B"/>
          </a:solidFill>
          <a:ln w="12700">
            <a:solidFill>
              <a:srgbClr val="E77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3055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Scattered evidence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578608"/>
            <a:ext cx="288036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68645D"/>
                </a:solidFill>
              </a:rPr>
              <a:t>Self-assessment</a:t>
            </a:r>
            <a:endParaRPr lang="en-US" sz="1050" dirty="0"/>
          </a:p>
          <a:p>
            <a:r>
              <a:rPr lang="en-US" sz="1050" dirty="0">
                <a:solidFill>
                  <a:srgbClr val="68645D"/>
                </a:solidFill>
              </a:rPr>
              <a:t>Manager feedback</a:t>
            </a:r>
            <a:endParaRPr lang="en-US" sz="1050" dirty="0"/>
          </a:p>
          <a:p>
            <a:r>
              <a:rPr lang="en-US" sz="1050" dirty="0">
                <a:solidFill>
                  <a:srgbClr val="68645D"/>
                </a:solidFill>
              </a:rPr>
              <a:t>Peer comments</a:t>
            </a:r>
            <a:endParaRPr lang="en-US" sz="1050" dirty="0"/>
          </a:p>
          <a:p>
            <a:r>
              <a:rPr lang="en-US" sz="1050" dirty="0">
                <a:solidFill>
                  <a:srgbClr val="68645D"/>
                </a:solidFill>
              </a:rPr>
              <a:t>Goals and project outcomes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92024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920240"/>
            <a:ext cx="64008" cy="3246120"/>
          </a:xfrm>
          <a:prstGeom prst="rect">
            <a:avLst/>
          </a:prstGeom>
          <a:solidFill>
            <a:srgbClr val="A32727"/>
          </a:solidFill>
          <a:ln w="12700">
            <a:solidFill>
              <a:srgbClr val="A327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213055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High-stakes synthesis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2584" y="2578608"/>
            <a:ext cx="288036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A single vague or recent opinion can outweigh objective outcomes. Traditional AI summarizers may make the narrative sound more confident—not more true.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192024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1920240"/>
            <a:ext cx="64008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213055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Missing accountability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49056" y="2578608"/>
            <a:ext cx="288036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Without citations, a separate audit, and a human decision gate, reviewers cannot explain where a conclusion came from or why it was approved.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" y="5623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E7782B"/>
                </a:solidFill>
              </a:rPr>
              <a:t>Design principle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0" y="5541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</a:rPr>
              <a:t>The system should refuse unsupported certainty, not merely generate polished prose.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7782B"/>
                </a:solidFill>
              </a:rPr>
              <a:t>OUR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</a:rPr>
              <a:t>A review pipeline with independent checks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645D"/>
                </a:solidFill>
              </a:rPr>
              <a:t>Two agents perform different jobs; deterministic validators and a human approver constrain both.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FBE6D4"/>
          </a:solidFill>
          <a:ln w="15240">
            <a:solidFill>
              <a:srgbClr val="E778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304288"/>
            <a:ext cx="438912" cy="438912"/>
          </a:xfrm>
          <a:prstGeom prst="ellipse">
            <a:avLst/>
          </a:prstGeom>
          <a:solidFill>
            <a:srgbClr val="E7782B"/>
          </a:solidFill>
          <a:ln w="12700">
            <a:solidFill>
              <a:srgbClr val="E77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4048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7512" y="2944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Evidence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34930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645D"/>
                </a:solidFill>
              </a:rPr>
              <a:t>Self · manager · peers · goals · outcomes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542032" y="2926080"/>
            <a:ext cx="256032" cy="438912"/>
          </a:xfrm>
          <a:prstGeom prst="chevron">
            <a:avLst/>
          </a:prstGeom>
          <a:solidFill>
            <a:srgbClr val="CBC7BE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10312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3042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4048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99232" y="2944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</a:rPr>
              <a:t>Synthesis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99232" y="34930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645D"/>
                </a:solidFill>
              </a:rPr>
              <a:t>Specific report claims with source IDs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873752" y="2926080"/>
            <a:ext cx="256032" cy="438912"/>
          </a:xfrm>
          <a:prstGeom prst="chevron">
            <a:avLst/>
          </a:prstGeom>
          <a:solidFill>
            <a:srgbClr val="CBC7BE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10312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EEEDE8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0952" y="2304288"/>
            <a:ext cx="438912" cy="43891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24048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30952" y="2944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30952" y="34930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645D"/>
                </a:solidFill>
              </a:rPr>
              <a:t>Whitelist citations; drop uncited claims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205472" y="2926080"/>
            <a:ext cx="256032" cy="438912"/>
          </a:xfrm>
          <a:prstGeom prst="chevron">
            <a:avLst/>
          </a:prstGeom>
          <a:solidFill>
            <a:srgbClr val="CBC7BE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210312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FCE4E4"/>
          </a:solidFill>
          <a:ln w="15240">
            <a:solidFill>
              <a:srgbClr val="A327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62672" y="2304288"/>
            <a:ext cx="438912" cy="438912"/>
          </a:xfrm>
          <a:prstGeom prst="ellipse">
            <a:avLst/>
          </a:prstGeom>
          <a:solidFill>
            <a:srgbClr val="A32727"/>
          </a:solidFill>
          <a:ln w="12700">
            <a:solidFill>
              <a:srgbClr val="A327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24048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62672" y="2944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</a:rPr>
              <a:t>Bias-audit 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62672" y="34930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645D"/>
                </a:solidFill>
              </a:rPr>
              <a:t>5 failure categories + severity + reasoning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9537192" y="2926080"/>
            <a:ext cx="256032" cy="438912"/>
          </a:xfrm>
          <a:prstGeom prst="chevron">
            <a:avLst/>
          </a:prstGeom>
          <a:solidFill>
            <a:srgbClr val="CBC7BE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2103120"/>
            <a:ext cx="1993392" cy="2240280"/>
          </a:xfrm>
          <a:prstGeom prst="roundRect">
            <a:avLst>
              <a:gd name="adj" fmla="val 3670"/>
            </a:avLst>
          </a:prstGeom>
          <a:solidFill>
            <a:srgbClr val="DDF4E7"/>
          </a:solidFill>
          <a:ln w="15240">
            <a:solidFill>
              <a:srgbClr val="167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94392" y="2304288"/>
            <a:ext cx="438912" cy="438912"/>
          </a:xfrm>
          <a:prstGeom prst="ellipse">
            <a:avLst/>
          </a:prstGeom>
          <a:solidFill>
            <a:srgbClr val="167A45"/>
          </a:solidFill>
          <a:ln w="12700">
            <a:solidFill>
              <a:srgbClr val="167A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94392" y="24048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94392" y="2944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</a:rPr>
              <a:t>Human gate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94392" y="349300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645D"/>
                </a:solidFill>
              </a:rPr>
              <a:t>Edit · acknowledge · reject · approve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40080" y="4956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82B"/>
                </a:solidFill>
              </a:rPr>
              <a:t>Agentic, not autonomous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43200" y="490118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1515"/>
                </a:solidFill>
              </a:rPr>
              <a:t>The system can gather, reason, audit, and recommend—but it cannot finalize a harmful review without an explicit human action recorded in the audit trail.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7782B"/>
                </a:solidFill>
              </a:rPr>
              <a:t>EVIDENCE GROUNDING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</a:rPr>
              <a:t>Every conclusion is inspectable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645D"/>
                </a:solidFill>
              </a:rPr>
              <a:t>A claim is useful only when the reviewer can trace it back to the original sentence or objective record.</a:t>
            </a:r>
            <a:endParaRPr lang="en-US" sz="1200" dirty="0"/>
          </a:p>
        </p:txBody>
      </p:sp>
      <p:pic>
        <p:nvPicPr>
          <p:cNvPr id="5" name="Image 0" descr="c:\Users\sidde\OneDrive\Desktop\FSD\Hackthonss\bias-aware-360-review-system\shots\6-dra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47088"/>
            <a:ext cx="672084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1847088"/>
            <a:ext cx="6720840" cy="4069080"/>
          </a:xfrm>
          <a:prstGeom prst="roundRect">
            <a:avLst>
              <a:gd name="adj" fmla="val 1348"/>
            </a:avLst>
          </a:prstGeom>
          <a:solidFill>
            <a:srgbClr val="FFFFFF">
              <a:alpha val="0"/>
            </a:srgbClr>
          </a:solidFill>
          <a:ln w="11430">
            <a:solidFill>
              <a:srgbClr val="CBC7B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847088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847088"/>
            <a:ext cx="64008" cy="1170432"/>
          </a:xfrm>
          <a:prstGeom prst="rect">
            <a:avLst/>
          </a:prstGeom>
          <a:solidFill>
            <a:srgbClr val="E7782B"/>
          </a:solidFill>
          <a:ln w="12700">
            <a:solidFill>
              <a:srgbClr val="E778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91272" y="205740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Claim-level citations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91272" y="25054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Every report claim carries one or more canonical source IDs.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35240" y="3246120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35240" y="3246120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91272" y="345643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Deterministic resolution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91272" y="39044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Missing or invented IDs are surfaced; citations are not trusted merely because the model emitted them.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35240" y="4645152"/>
            <a:ext cx="38862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35240" y="4645152"/>
            <a:ext cx="64008" cy="1170432"/>
          </a:xfrm>
          <a:prstGeom prst="rect">
            <a:avLst/>
          </a:prstGeom>
          <a:solidFill>
            <a:srgbClr val="A32727"/>
          </a:solidFill>
          <a:ln w="12700">
            <a:solidFill>
              <a:srgbClr val="A327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91272" y="485546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Fail-closed audit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91272" y="53035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Missing, duplicate, malformed, or unknown audit references stop generation instead of appearing clean.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7782B"/>
                </a:solidFill>
              </a:rPr>
              <a:t>BIAS DETECTION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</a:rPr>
              <a:t>The second agent audits the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645D"/>
                </a:solidFill>
              </a:rPr>
              <a:t>It reviews every claim against all source evidence—not just the sources selected by the synthesis agent.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01568" cy="1170432"/>
          </a:xfrm>
          <a:prstGeom prst="roundRect">
            <a:avLst>
              <a:gd name="adj" fmla="val 6250"/>
            </a:avLst>
          </a:prstGeom>
          <a:solidFill>
            <a:srgbClr val="FCE4E4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64008" cy="1170432"/>
          </a:xfrm>
          <a:prstGeom prst="rect">
            <a:avLst/>
          </a:prstGeom>
          <a:solidFill>
            <a:srgbClr val="A32727"/>
          </a:solidFill>
          <a:ln w="12700">
            <a:solidFill>
              <a:srgbClr val="A327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Unsupported claim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4871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No concrete support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401568" cy="1170432"/>
          </a:xfrm>
          <a:prstGeom prst="roundRect">
            <a:avLst>
              <a:gd name="adj" fmla="val 6250"/>
            </a:avLst>
          </a:prstGeom>
          <a:solidFill>
            <a:srgbClr val="FFF0B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828800"/>
            <a:ext cx="64008" cy="1170432"/>
          </a:xfrm>
          <a:prstGeom prst="rect">
            <a:avLst/>
          </a:prstGeom>
          <a:solidFill>
            <a:srgbClr val="8B5B08"/>
          </a:solidFill>
          <a:ln w="12700">
            <a:solidFill>
              <a:srgbClr val="8B5B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203911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Recency bias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2584" y="24871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Recent period dominates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1828800"/>
            <a:ext cx="3401568" cy="1170432"/>
          </a:xfrm>
          <a:prstGeom prst="roundRect">
            <a:avLst>
              <a:gd name="adj" fmla="val 6250"/>
            </a:avLst>
          </a:prstGeom>
          <a:solidFill>
            <a:srgbClr val="FBE6D4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1828800"/>
            <a:ext cx="64008" cy="1170432"/>
          </a:xfrm>
          <a:prstGeom prst="rect">
            <a:avLst/>
          </a:prstGeom>
          <a:solidFill>
            <a:srgbClr val="E7782B"/>
          </a:solidFill>
          <a:ln w="12700">
            <a:solidFill>
              <a:srgbClr val="E778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203911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Single-source bias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49056" y="24871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One subjective voice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310128"/>
            <a:ext cx="3401568" cy="1170432"/>
          </a:xfrm>
          <a:prstGeom prst="roundRect">
            <a:avLst>
              <a:gd name="adj" fmla="val 6250"/>
            </a:avLst>
          </a:prstGeom>
          <a:solidFill>
            <a:srgbClr val="EEF2F6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10128"/>
            <a:ext cx="64008" cy="1170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520440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Vague language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6112" y="396849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No observable detail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16552" y="3310128"/>
            <a:ext cx="3401568" cy="1170432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16552" y="3310128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3520440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Contradiction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72584" y="396849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Objective evidence conflicts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93024" y="3310128"/>
            <a:ext cx="3401568" cy="1170432"/>
          </a:xfrm>
          <a:prstGeom prst="roundRect">
            <a:avLst>
              <a:gd name="adj" fmla="val 6250"/>
            </a:avLst>
          </a:prstGeom>
          <a:solidFill>
            <a:srgbClr val="DDF4E7"/>
          </a:solidFill>
          <a:ln w="12700">
            <a:solidFill>
              <a:srgbClr val="167A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9912" y="352958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</a:rPr>
              <a:t>Independent signal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39912" y="38862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645D"/>
                </a:solidFill>
              </a:rPr>
              <a:t>A non-LLM pre-check measures source concentration, time coverage, and peer-voice balance.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67512" y="5166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82B"/>
                </a:solidFill>
              </a:rPr>
              <a:t>Why two signals?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487168" y="50749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1515"/>
                </a:solidFill>
              </a:rPr>
              <a:t>Model-based semantic review catches harmful wording; deterministic arithmetic catches skewed evidence distribution. Neither is presented as a standalone fairness verdict.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7782B"/>
                </a:solidFill>
              </a:rPr>
              <a:t>HUMAN IN THE LOOP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</a:rPr>
              <a:t>Approval is a server-enforced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645D"/>
                </a:solidFill>
              </a:rPr>
              <a:t>The interface does not merely suggest review—the backend refuses unresolved high-severity approval attempts.</a:t>
            </a:r>
            <a:endParaRPr lang="en-US" sz="1200" dirty="0"/>
          </a:p>
        </p:txBody>
      </p:sp>
      <p:pic>
        <p:nvPicPr>
          <p:cNvPr id="5" name="Image 0" descr="c:\Users\sidde\OneDrive\Desktop\FSD\Hackthonss\bias-aware-360-review-system\shots\10-b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28800"/>
            <a:ext cx="690372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1828800"/>
            <a:ext cx="6903720" cy="4069080"/>
          </a:xfrm>
          <a:prstGeom prst="roundRect">
            <a:avLst>
              <a:gd name="adj" fmla="val 1348"/>
            </a:avLst>
          </a:prstGeom>
          <a:solidFill>
            <a:srgbClr val="FFFFFF">
              <a:alpha val="0"/>
            </a:srgbClr>
          </a:solidFill>
          <a:ln w="11430">
            <a:solidFill>
              <a:srgbClr val="CBC7B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18120" y="1828800"/>
            <a:ext cx="3703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18120" y="1828800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74152" y="2039112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1 · Inspect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74152" y="2487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Open original citations and flag reasoning.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3136392"/>
            <a:ext cx="3703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18120" y="3136392"/>
            <a:ext cx="64008" cy="1115568"/>
          </a:xfrm>
          <a:prstGeom prst="rect">
            <a:avLst/>
          </a:prstGeom>
          <a:solidFill>
            <a:srgbClr val="E7782B"/>
          </a:solidFill>
          <a:ln w="12700">
            <a:solidFill>
              <a:srgbClr val="E778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74152" y="334670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2 · Decide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74152" y="3794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Amend, explicitly acknowledge, or reject. Editing alone does not clear the original flag.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18120" y="4443984"/>
            <a:ext cx="3703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18120" y="4443984"/>
            <a:ext cx="64008" cy="1115568"/>
          </a:xfrm>
          <a:prstGeom prst="rect">
            <a:avLst/>
          </a:prstGeom>
          <a:solidFill>
            <a:srgbClr val="167A45"/>
          </a:solidFill>
          <a:ln w="12700">
            <a:solidFill>
              <a:srgbClr val="167A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74152" y="4654296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3 · Record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74152" y="51023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645D"/>
                </a:solidFill>
              </a:rPr>
              <a:t>Actor, timestamp, action, field-level diff, and acknowledged references enter the audit trail.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47888" y="5687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727"/>
                </a:solidFill>
              </a:rPr>
              <a:t>HTTP 422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308592" y="5705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8645D"/>
                </a:solidFill>
              </a:rPr>
              <a:t>unresolved_high_severity_flags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7782B"/>
                </a:solidFill>
              </a:rPr>
              <a:t>MEASURED PERFORMANCE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</a:rPr>
              <a:t>We expose misses instead of claiming perfection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645D"/>
                </a:solidFill>
              </a:rPr>
              <a:t>Benchmark v1 compares captured outputs with human-adjudicated labels on 39 synthetic claims.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7A45"/>
                </a:solidFill>
              </a:rPr>
              <a:t>100%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252374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1515"/>
                </a:solidFill>
              </a:rPr>
              <a:t>Precision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8645D"/>
                </a:solidFill>
              </a:rPr>
              <a:t>0 false positives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8B5B08"/>
                </a:solidFill>
              </a:rPr>
              <a:t>66.7%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090672" y="252374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1515"/>
                </a:solidFill>
              </a:rPr>
              <a:t>Recall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90672" y="2807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8645D"/>
                </a:solidFill>
              </a:rPr>
              <a:t>2 false negatives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193792" y="18745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</a:rPr>
              <a:t>80.0%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358384" y="252374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1515"/>
                </a:solidFill>
              </a:rPr>
              <a:t>Overall F1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58384" y="2807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8645D"/>
                </a:solidFill>
              </a:rPr>
              <a:t>balanced score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461504" y="18745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6096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</a:rPr>
              <a:t>83.3%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626096" y="252374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1515"/>
                </a:solidFill>
              </a:rPr>
              <a:t>Macro F1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26096" y="2807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8645D"/>
                </a:solidFill>
              </a:rPr>
              <a:t>represented classes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729216" y="18745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93808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7A45"/>
                </a:solidFill>
              </a:rPr>
              <a:t>100%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893808" y="252374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1515"/>
                </a:solidFill>
              </a:rPr>
              <a:t>Citation resolution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93808" y="2807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8645D"/>
                </a:solidFill>
              </a:rPr>
              <a:t>all IDs resolve</a:t>
            </a:r>
            <a:endParaRPr lang="en-US" sz="750" dirty="0"/>
          </a:p>
        </p:txBody>
      </p:sp>
      <p:pic>
        <p:nvPicPr>
          <p:cNvPr id="25" name="Image 0" descr="c:\Users\sidde\OneDrive\Desktop\FSD\Hackthonss\bias-aware-360-review-system\shots\pg-audit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401568"/>
            <a:ext cx="6172200" cy="248716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58368" y="3401568"/>
            <a:ext cx="6172200" cy="2487168"/>
          </a:xfrm>
          <a:prstGeom prst="roundRect">
            <a:avLst>
              <a:gd name="adj" fmla="val 2206"/>
            </a:avLst>
          </a:prstGeom>
          <a:solidFill>
            <a:srgbClr val="FFFFFF">
              <a:alpha val="0"/>
            </a:srgbClr>
          </a:solidFill>
          <a:ln w="11430">
            <a:solidFill>
              <a:srgbClr val="CBC7B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50608" y="3401568"/>
            <a:ext cx="4370832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24928" y="3675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</a:rPr>
              <a:t>Known weaknesses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52360" y="4142232"/>
            <a:ext cx="36118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68645D"/>
                </a:solidFill>
              </a:rPr>
              <a:t>2 missed vague-praise claims</a:t>
            </a:r>
            <a:endParaRPr lang="en-US" sz="1100" dirty="0"/>
          </a:p>
          <a:p>
            <a:r>
              <a:rPr lang="en-US" sz="1100" dirty="0">
                <a:solidFill>
                  <a:srgbClr val="68645D"/>
                </a:solidFill>
              </a:rPr>
              <a:t>No labeled recency-bias cases yet</a:t>
            </a:r>
            <a:endParaRPr lang="en-US" sz="1100" dirty="0"/>
          </a:p>
          <a:p>
            <a:r>
              <a:rPr lang="en-US" sz="1100" dirty="0">
                <a:solidFill>
                  <a:srgbClr val="68645D"/>
                </a:solidFill>
              </a:rPr>
              <a:t>No labeled unsupported-claim cases yet</a:t>
            </a:r>
            <a:endParaRPr lang="en-US" sz="1100" dirty="0"/>
          </a:p>
          <a:p>
            <a:r>
              <a:rPr lang="en-US" sz="1100" dirty="0">
                <a:solidFill>
                  <a:srgbClr val="68645D"/>
                </a:solidFill>
              </a:rPr>
              <a:t>Captured run; repeated-run consistency remains future work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34072" y="55229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7782B"/>
                </a:solidFill>
              </a:rPr>
              <a:t>Judge takeaway: the dashboard is both evidence and a product safety mechanism—it directs prompt tuning to measurable failure modes.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7782B"/>
                </a:solidFill>
              </a:rPr>
              <a:t>GOVERNANCE &amp; PRIVACY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</a:rPr>
              <a:t>Implemented controls—and explicit boundaries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645D"/>
                </a:solidFill>
              </a:rPr>
              <a:t>We distinguish actual safeguards from production controls that remain outside the hackathon scope.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DDF4E7"/>
          </a:solidFill>
          <a:ln w="12700">
            <a:solidFill>
              <a:srgbClr val="16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A45"/>
                </a:solidFill>
              </a:rPr>
              <a:t>Implemented in the prototype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24912"/>
            <a:ext cx="45262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151515"/>
                </a:solidFill>
              </a:rPr>
              <a:t>Server-only n8n webhook URL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Employee-scoped audit proxy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Runtime request/response validation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Synthetic demo and benchmark data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Field-level approval diffs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Honest governance disclosures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6208" y="187452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FF0BF"/>
          </a:solidFill>
          <a:ln w="12700">
            <a:solidFill>
              <a:srgbClr val="D2A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B08"/>
                </a:solidFill>
              </a:rPr>
              <a:t>Required before production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0528" y="2724912"/>
            <a:ext cx="45262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151515"/>
                </a:solidFill>
              </a:rPr>
              <a:t>Authentication and role-based access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No live report persistence in localStorage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Consent and retention policy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Employee export / erasure workflow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Database RLS and append-only permissions</a:t>
            </a:r>
            <a:endParaRPr lang="en-US" sz="1200" dirty="0"/>
          </a:p>
          <a:p>
            <a:r>
              <a:rPr lang="en-US" sz="1200" dirty="0">
                <a:solidFill>
                  <a:srgbClr val="151515"/>
                </a:solidFill>
              </a:rPr>
              <a:t>Signed server-to-server workflow requests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57881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515"/>
                </a:solidFill>
              </a:rPr>
              <a:t>Responsible AI means making limitations inspectable—not hiding them behind a polished demo.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7782B"/>
                </a:solidFill>
              </a:rPr>
              <a:t>90-SECOND DEMO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</a:rPr>
              <a:t>Show the complete safety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645D"/>
                </a:solidFill>
              </a:rPr>
              <a:t>Use the biased Arjun scenario to demonstrate grounding, detection, human control, and accountability.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782B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0208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Generate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441448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645D"/>
                </a:solidFill>
              </a:rPr>
              <a:t>Open Arjun Mehta and generate the draft.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34840" y="1847088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029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782B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0208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Trace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2441448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645D"/>
                </a:solidFill>
              </a:rPr>
              <a:t>Open a citation to show original source text.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0" y="1847088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029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782B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06840" y="20208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Detect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06840" y="2441448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645D"/>
                </a:solidFill>
              </a:rPr>
              <a:t>Find “consistently misses deadlines” contradicted by outcomes.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493008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75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782B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66674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Block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087368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645D"/>
                </a:solidFill>
              </a:rPr>
              <a:t>Attempt approval; show the server refusal.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3493008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675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782B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66674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Decide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4087368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645D"/>
                </a:solidFill>
              </a:rPr>
              <a:t>Amend or acknowledge after review, then approve.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3493008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CBC7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675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782B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06840" y="366674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</a:rPr>
              <a:t>Audit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06840" y="4087368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645D"/>
                </a:solidFill>
              </a:rPr>
              <a:t>Open the final audit trail and evaluation page.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963656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51383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demo: bias-aware-360-review-system.vercel.app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5513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CFD4DA"/>
                </a:solidFill>
              </a:rPr>
              <a:t>Backup: captured reports keep the full journey available offline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1908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9B27D"/>
                </a:solidFill>
              </a:rPr>
              <a:t>WHY THIS PROJECT STANDS 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7512" y="1124712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A review people can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question before it counts.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3035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Grounded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5021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C5CC"/>
                </a:solidFill>
              </a:rPr>
              <a:t>Every claim links to evidence.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30752" y="3035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Agentic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30752" y="35021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EC5CC"/>
                </a:solidFill>
              </a:rPr>
              <a:t>Synthesis and audit are independent roles.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48272" y="3035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Accountable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48272" y="35021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EC5CC"/>
                </a:solidFill>
              </a:rPr>
              <a:t>Human decisions and changes are recorded.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65792" y="3035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Measurable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65792" y="3502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EC5CC"/>
                </a:solidFill>
              </a:rPr>
              <a:t>Precision, recall, F1, and misses are visible.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4498848"/>
            <a:ext cx="10835640" cy="0"/>
          </a:xfrm>
          <a:prstGeom prst="line">
            <a:avLst/>
          </a:prstGeom>
          <a:noFill/>
          <a:ln w="12700">
            <a:solidFill>
              <a:srgbClr val="4651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91947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From scattered feedback to an inspectable decision—without pretending AI should be the final authority.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21240" y="5760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B27D"/>
                </a:solidFill>
              </a:rPr>
              <a:t>Thank you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D696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 Claude's Plan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Bias-Aware 360 Review Desk</dc:title>
  <dc:subject>INNOVA HACK Chapter-1 Agentic AI pitch</dc:subject>
  <dc:creator>Team Claude's Plan</dc:creator>
  <cp:lastModifiedBy>Team Claude's Plan</cp:lastModifiedBy>
  <cp:revision>1</cp:revision>
  <dcterms:created xsi:type="dcterms:W3CDTF">2026-08-02T10:46:45Z</dcterms:created>
  <dcterms:modified xsi:type="dcterms:W3CDTF">2026-08-02T10:46:45Z</dcterms:modified>
</cp:coreProperties>
</file>